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2307"/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lap\Desktop\BDM%20Project\FINAL\Dataset%20&amp;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lap\Desktop\BDM%20Project\FINAL\Dataset%20&amp;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lap\Desktop\BDM%20Project\FINAL\Dataset%20&amp;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lap\Desktop\BDM%20Project\FINAL\Dataset%20&amp;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Room Occupancy Trend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FINAL!$D$2</c:f>
              <c:strCache>
                <c:ptCount val="1"/>
                <c:pt idx="0">
                  <c:v>OCCUPANCY RATE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8"/>
              <c:layout>
                <c:manualLayout>
                  <c:x val="-6.2153540634304727E-2"/>
                  <c:y val="3.7194103309102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22B-45E0-AA7B-C32764926EF2}"/>
                </c:ext>
              </c:extLst>
            </c:dLbl>
            <c:dLbl>
              <c:idx val="10"/>
              <c:layout>
                <c:manualLayout>
                  <c:x val="-5.9324846359581941E-2"/>
                  <c:y val="5.43408797151383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2B-45E0-AA7B-C32764926E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FINAL!$A$3:$A$14</c:f>
              <c:numCache>
                <c:formatCode>mmm\-yy</c:formatCode>
                <c:ptCount val="12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</c:numCache>
            </c:numRef>
          </c:cat>
          <c:val>
            <c:numRef>
              <c:f>FINAL!$D$3:$D$14</c:f>
              <c:numCache>
                <c:formatCode>0.00%</c:formatCode>
                <c:ptCount val="12"/>
                <c:pt idx="0">
                  <c:v>0.16269284712482468</c:v>
                </c:pt>
                <c:pt idx="1">
                  <c:v>0.25931677018633542</c:v>
                </c:pt>
                <c:pt idx="2">
                  <c:v>0.1093969144460028</c:v>
                </c:pt>
                <c:pt idx="3">
                  <c:v>0.42173913043478262</c:v>
                </c:pt>
                <c:pt idx="4">
                  <c:v>0.58204768583450206</c:v>
                </c:pt>
                <c:pt idx="5">
                  <c:v>0.37391304347826088</c:v>
                </c:pt>
                <c:pt idx="6">
                  <c:v>0.46844319775596072</c:v>
                </c:pt>
                <c:pt idx="7">
                  <c:v>0.32318840579710145</c:v>
                </c:pt>
                <c:pt idx="8">
                  <c:v>0.30294530154277699</c:v>
                </c:pt>
                <c:pt idx="9">
                  <c:v>0.36231884057971014</c:v>
                </c:pt>
                <c:pt idx="10">
                  <c:v>0.28892005610098176</c:v>
                </c:pt>
                <c:pt idx="11">
                  <c:v>0.30869565217391304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2B-45E0-AA7B-C32764926EF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37569039"/>
        <c:axId val="1537570959"/>
      </c:lineChart>
      <c:dateAx>
        <c:axId val="15375690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570959"/>
        <c:crosses val="autoZero"/>
        <c:auto val="1"/>
        <c:lblOffset val="100"/>
        <c:baseTimeUnit val="months"/>
      </c:dateAx>
      <c:valAx>
        <c:axId val="1537570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Occupancy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56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RevPAR Trend at Hotel SR Paark (2025)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FINAL!$F$2</c:f>
              <c:strCache>
                <c:ptCount val="1"/>
                <c:pt idx="0">
                  <c:v>REVENUE FOR AVALIABILITY ROOMS(RevPAR)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2.9398148148148148E-3"/>
                  <c:y val="3.527777777777777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EA-422F-BE77-B3A15CD0695F}"/>
                </c:ext>
              </c:extLst>
            </c:dLbl>
            <c:dLbl>
              <c:idx val="6"/>
              <c:layout>
                <c:manualLayout>
                  <c:x val="0"/>
                  <c:y val="-1.76388888888888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FEA-422F-BE77-B3A15CD0695F}"/>
                </c:ext>
              </c:extLst>
            </c:dLbl>
            <c:dLbl>
              <c:idx val="7"/>
              <c:layout>
                <c:manualLayout>
                  <c:x val="5.8796296296296296E-3"/>
                  <c:y val="1.17592592592592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EA-422F-BE77-B3A15CD0695F}"/>
                </c:ext>
              </c:extLst>
            </c:dLbl>
            <c:dLbl>
              <c:idx val="8"/>
              <c:layout>
                <c:manualLayout>
                  <c:x val="0"/>
                  <c:y val="2.93981481481482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FEA-422F-BE77-B3A15CD0695F}"/>
                </c:ext>
              </c:extLst>
            </c:dLbl>
            <c:dLbl>
              <c:idx val="10"/>
              <c:layout>
                <c:manualLayout>
                  <c:x val="0"/>
                  <c:y val="3.527777777777777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EA-422F-BE77-B3A15CD069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FINAL!$A$3:$A$14</c:f>
              <c:numCache>
                <c:formatCode>mmm\-yy</c:formatCode>
                <c:ptCount val="12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</c:numCache>
            </c:numRef>
          </c:cat>
          <c:val>
            <c:numRef>
              <c:f>FINAL!$F$3:$F$14</c:f>
              <c:numCache>
                <c:formatCode>"₹"\ #,##0.00</c:formatCode>
                <c:ptCount val="12"/>
                <c:pt idx="0">
                  <c:v>366.0266479663394</c:v>
                </c:pt>
                <c:pt idx="1">
                  <c:v>584.73602484472053</c:v>
                </c:pt>
                <c:pt idx="2">
                  <c:v>252.31416549789623</c:v>
                </c:pt>
                <c:pt idx="3">
                  <c:v>970</c:v>
                </c:pt>
                <c:pt idx="4">
                  <c:v>1338.7096774193549</c:v>
                </c:pt>
                <c:pt idx="5">
                  <c:v>775.83913043478265</c:v>
                </c:pt>
                <c:pt idx="6">
                  <c:v>809.92987377279098</c:v>
                </c:pt>
                <c:pt idx="7">
                  <c:v>702.95507246376815</c:v>
                </c:pt>
                <c:pt idx="8">
                  <c:v>508.17952314165495</c:v>
                </c:pt>
                <c:pt idx="9">
                  <c:v>656.00579710144928</c:v>
                </c:pt>
                <c:pt idx="10">
                  <c:v>526.6844319775596</c:v>
                </c:pt>
                <c:pt idx="11">
                  <c:v>622.5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EA-422F-BE77-B3A15CD069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88598111"/>
        <c:axId val="1988597631"/>
      </c:barChart>
      <c:dateAx>
        <c:axId val="19885981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8597631"/>
        <c:crosses val="autoZero"/>
        <c:auto val="1"/>
        <c:lblOffset val="100"/>
        <c:baseTimeUnit val="months"/>
      </c:dateAx>
      <c:valAx>
        <c:axId val="1988597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baseline="0"/>
                  <a:t>RevPAR (₹ per room)</a:t>
                </a:r>
                <a:endParaRPr lang="en-IN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859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 dirty="0">
                <a:solidFill>
                  <a:schemeClr val="bg1"/>
                </a:solidFill>
              </a:rPr>
              <a:t>Contribution of Add-on Services</a:t>
            </a:r>
            <a:endParaRPr lang="en-IN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Extra Bed Sales</c:v>
          </c:tx>
          <c:spPr>
            <a:solidFill>
              <a:schemeClr val="accent2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'MID TERM'!$A$3:$A$14</c:f>
              <c:numCache>
                <c:formatCode>mmm\-yy</c:formatCode>
                <c:ptCount val="12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</c:numCache>
            </c:numRef>
          </c:cat>
          <c:val>
            <c:numRef>
              <c:f>'MID TERM'!$G$3:$G$14</c:f>
              <c:numCache>
                <c:formatCode>General</c:formatCode>
                <c:ptCount val="12"/>
                <c:pt idx="0">
                  <c:v>34</c:v>
                </c:pt>
                <c:pt idx="1">
                  <c:v>54</c:v>
                </c:pt>
                <c:pt idx="2">
                  <c:v>22</c:v>
                </c:pt>
                <c:pt idx="3">
                  <c:v>97</c:v>
                </c:pt>
                <c:pt idx="4">
                  <c:v>143</c:v>
                </c:pt>
                <c:pt idx="5">
                  <c:v>41</c:v>
                </c:pt>
                <c:pt idx="6">
                  <c:v>26</c:v>
                </c:pt>
                <c:pt idx="7">
                  <c:v>44</c:v>
                </c:pt>
                <c:pt idx="8">
                  <c:v>27</c:v>
                </c:pt>
                <c:pt idx="9">
                  <c:v>38</c:v>
                </c:pt>
                <c:pt idx="10">
                  <c:v>47</c:v>
                </c:pt>
                <c:pt idx="1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F3-4637-9DB5-5FCEBA050800}"/>
            </c:ext>
          </c:extLst>
        </c:ser>
        <c:ser>
          <c:idx val="1"/>
          <c:order val="1"/>
          <c:tx>
            <c:v>Cool Drink Sales</c:v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0"/>
                  <c:y val="1.39353400222965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9F3-4637-9DB5-5FCEBA05080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'MID TERM'!$A$3:$A$14</c:f>
              <c:numCache>
                <c:formatCode>mmm\-yy</c:formatCode>
                <c:ptCount val="12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</c:numCache>
            </c:numRef>
          </c:cat>
          <c:val>
            <c:numRef>
              <c:f>'MID TERM'!$H$3:$H$14</c:f>
              <c:numCache>
                <c:formatCode>General</c:formatCode>
                <c:ptCount val="12"/>
                <c:pt idx="0">
                  <c:v>295</c:v>
                </c:pt>
                <c:pt idx="1">
                  <c:v>426</c:v>
                </c:pt>
                <c:pt idx="2">
                  <c:v>201</c:v>
                </c:pt>
                <c:pt idx="3">
                  <c:v>750</c:v>
                </c:pt>
                <c:pt idx="4">
                  <c:v>1065</c:v>
                </c:pt>
                <c:pt idx="5">
                  <c:v>596</c:v>
                </c:pt>
                <c:pt idx="6">
                  <c:v>787</c:v>
                </c:pt>
                <c:pt idx="7">
                  <c:v>531</c:v>
                </c:pt>
                <c:pt idx="8">
                  <c:v>396</c:v>
                </c:pt>
                <c:pt idx="9">
                  <c:v>476</c:v>
                </c:pt>
                <c:pt idx="10">
                  <c:v>390</c:v>
                </c:pt>
                <c:pt idx="11">
                  <c:v>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F3-4637-9DB5-5FCEBA050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03029584"/>
        <c:axId val="903028624"/>
      </c:barChart>
      <c:dateAx>
        <c:axId val="903029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bg1"/>
                    </a:solidFill>
                  </a:rPr>
                  <a:t>Month</a:t>
                </a:r>
                <a:r>
                  <a:rPr lang="en-IN" b="1" baseline="0">
                    <a:solidFill>
                      <a:schemeClr val="bg1"/>
                    </a:solidFill>
                  </a:rPr>
                  <a:t> (2025)</a:t>
                </a:r>
                <a:endParaRPr lang="en-IN" b="1">
                  <a:solidFill>
                    <a:schemeClr val="bg1"/>
                  </a:solidFill>
                </a:endParaRPr>
              </a:p>
            </c:rich>
          </c:tx>
          <c:layout>
            <c:manualLayout>
              <c:xMode val="edge"/>
              <c:yMode val="edge"/>
              <c:x val="0.46102605679186998"/>
              <c:y val="0.840734167865704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3028624"/>
        <c:crosses val="autoZero"/>
        <c:auto val="1"/>
        <c:lblOffset val="100"/>
        <c:baseTimeUnit val="months"/>
      </c:dateAx>
      <c:valAx>
        <c:axId val="90302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baseline="0">
                    <a:solidFill>
                      <a:schemeClr val="bg1"/>
                    </a:solidFill>
                  </a:rPr>
                  <a:t>Monthly Add-on Sales (Units)</a:t>
                </a:r>
                <a:endParaRPr lang="en-IN" b="1">
                  <a:solidFill>
                    <a:schemeClr val="bg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3029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 dirty="0">
                <a:solidFill>
                  <a:schemeClr val="bg1"/>
                </a:solidFill>
              </a:rPr>
              <a:t>Relationship between Room Occupancy and Add-on Services </a:t>
            </a:r>
            <a:endParaRPr lang="en-US" b="1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FINAL!$G$2</c:f>
              <c:strCache>
                <c:ptCount val="1"/>
                <c:pt idx="0">
                  <c:v>TOTAL ADD-ON SERVICES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FINAL!$B$3:$B$14</c:f>
              <c:numCache>
                <c:formatCode>General</c:formatCode>
                <c:ptCount val="12"/>
                <c:pt idx="0">
                  <c:v>116</c:v>
                </c:pt>
                <c:pt idx="1">
                  <c:v>167</c:v>
                </c:pt>
                <c:pt idx="2">
                  <c:v>78</c:v>
                </c:pt>
                <c:pt idx="3">
                  <c:v>291</c:v>
                </c:pt>
                <c:pt idx="4">
                  <c:v>415</c:v>
                </c:pt>
                <c:pt idx="5">
                  <c:v>258</c:v>
                </c:pt>
                <c:pt idx="6">
                  <c:v>334</c:v>
                </c:pt>
                <c:pt idx="7">
                  <c:v>223</c:v>
                </c:pt>
                <c:pt idx="8">
                  <c:v>216</c:v>
                </c:pt>
                <c:pt idx="9">
                  <c:v>250</c:v>
                </c:pt>
                <c:pt idx="10">
                  <c:v>206</c:v>
                </c:pt>
                <c:pt idx="11">
                  <c:v>213</c:v>
                </c:pt>
              </c:numCache>
            </c:numRef>
          </c:xVal>
          <c:yVal>
            <c:numRef>
              <c:f>FINAL!$G$3:$G$14</c:f>
              <c:numCache>
                <c:formatCode>General</c:formatCode>
                <c:ptCount val="12"/>
                <c:pt idx="0">
                  <c:v>329</c:v>
                </c:pt>
                <c:pt idx="1">
                  <c:v>480</c:v>
                </c:pt>
                <c:pt idx="2">
                  <c:v>223</c:v>
                </c:pt>
                <c:pt idx="3">
                  <c:v>847</c:v>
                </c:pt>
                <c:pt idx="4">
                  <c:v>1208</c:v>
                </c:pt>
                <c:pt idx="5">
                  <c:v>637</c:v>
                </c:pt>
                <c:pt idx="6">
                  <c:v>813</c:v>
                </c:pt>
                <c:pt idx="7">
                  <c:v>575</c:v>
                </c:pt>
                <c:pt idx="8">
                  <c:v>423</c:v>
                </c:pt>
                <c:pt idx="9">
                  <c:v>514</c:v>
                </c:pt>
                <c:pt idx="10">
                  <c:v>437</c:v>
                </c:pt>
                <c:pt idx="11">
                  <c:v>414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F107-4061-9545-299AC1E7CE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6575455"/>
        <c:axId val="136584095"/>
      </c:scatterChart>
      <c:valAx>
        <c:axId val="1365754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baseline="0">
                    <a:solidFill>
                      <a:schemeClr val="bg1"/>
                    </a:solidFill>
                  </a:rPr>
                  <a:t>Rooms Occupied (Monthly Total)</a:t>
                </a:r>
                <a:endParaRPr lang="en-IN" b="1">
                  <a:solidFill>
                    <a:schemeClr val="bg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584095"/>
        <c:crosses val="autoZero"/>
        <c:crossBetween val="midCat"/>
      </c:valAx>
      <c:valAx>
        <c:axId val="136584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baseline="0">
                    <a:solidFill>
                      <a:schemeClr val="bg1"/>
                    </a:solidFill>
                  </a:rPr>
                  <a:t>Add-on Services Count</a:t>
                </a:r>
                <a:endParaRPr lang="en-IN" b="1">
                  <a:solidFill>
                    <a:schemeClr val="bg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5754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18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24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SR PAARK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Optimization of Hospitality Operations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719072"/>
            <a:ext cx="5486400" cy="4572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Management</a:t>
            </a:r>
            <a:r>
              <a:rPr lang="en-US" sz="1300" kern="0" spc="1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IIT Madras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5029200" cy="1828800"/>
          </a:xfrm>
          <a:prstGeom prst="rect">
            <a:avLst/>
          </a:prstGeom>
          <a:solidFill>
            <a:srgbClr val="2A1508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871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487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Mannepalli Bala Praharsha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8986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8986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24F1002193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3101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3101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– Business Data Management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7216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721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SR Paark, Kavali, Andhra Pradesh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2377440"/>
            <a:ext cx="2971800" cy="530352"/>
          </a:xfrm>
          <a:prstGeom prst="rect">
            <a:avLst/>
          </a:prstGeom>
          <a:solidFill>
            <a:srgbClr val="C05800"/>
          </a:solidFill>
          <a:ln w="8890">
            <a:solidFill>
              <a:srgbClr val="C05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37744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08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Available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2971800"/>
            <a:ext cx="2971800" cy="530352"/>
          </a:xfrm>
          <a:prstGeom prst="rect">
            <a:avLst/>
          </a:prstGeom>
          <a:solidFill>
            <a:srgbClr val="2A1508"/>
          </a:solidFill>
          <a:ln w="8890">
            <a:solidFill>
              <a:srgbClr val="C05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297180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2084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0" y="3566160"/>
            <a:ext cx="2971800" cy="530352"/>
          </a:xfrm>
          <a:prstGeom prst="rect">
            <a:avLst/>
          </a:prstGeom>
          <a:solidFill>
            <a:srgbClr val="2A1508"/>
          </a:solidFill>
          <a:ln w="8890">
            <a:solidFill>
              <a:srgbClr val="C05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356616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208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01</a:t>
            </a:r>
            <a:endParaRPr lang="en-US" sz="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C878A6C-24F0-5BD2-C0BB-B070865DB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7559"/>
            <a:ext cx="2529347" cy="1004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BUSINESS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514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73152" cy="12344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589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SR Paark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9728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Mid-scale hospitality property near APSRTC Bus Stand, Kavali, Andhra Pradesh. Founded 2024.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685800"/>
            <a:ext cx="2514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71800" y="685800"/>
            <a:ext cx="73152" cy="12344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7589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36392" y="109728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Suite + 22 Deluxe Rooms = 23 total available rooms.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2514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57400"/>
            <a:ext cx="73152" cy="12344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30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Banquet &amp; Dining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46888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Multi-purpose banquet hall for social &amp; corporate events, plus full F&amp;B services.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71800" y="2057400"/>
            <a:ext cx="2514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71800" y="2057400"/>
            <a:ext cx="73152" cy="12344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2130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36392" y="246888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· Local families · Corporate clients · Event attendees.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5303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29000"/>
            <a:ext cx="73152" cy="12344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0215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840480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· Receptionist · 7 Housekeeping Staff · 1 Security Guard.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685800"/>
            <a:ext cx="3108960" cy="4114800"/>
          </a:xfrm>
          <a:prstGeom prst="rect">
            <a:avLst/>
          </a:prstGeom>
          <a:solidFill>
            <a:srgbClr val="38240D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7772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1170432"/>
            <a:ext cx="2377440" cy="36576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298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B2C direct-customer model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16824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Primary: Room bookings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20665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Secondary: Banquet hall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450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Add-ons: Extra beds + Cold drinks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2834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Data: Physical booking registers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3218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Period: January–December 2025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36027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Tool: Microsoft Excel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39867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NOC obtained from management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824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·  Three problems, one clear objective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1298448"/>
          </a:xfrm>
          <a:prstGeom prst="rect">
            <a:avLst/>
          </a:prstGeom>
          <a:solidFill>
            <a:srgbClr val="2A1508"/>
          </a:solidFill>
          <a:ln w="6350">
            <a:solidFill>
              <a:srgbClr val="C05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"/>
            <a:ext cx="777240" cy="1298448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4241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73152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fluctuation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08813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and the banquet hall sit underutilized on weekdays, yet face overbooking pressure during festivals, weddings, and peak seasons — creating uneven revenue and guest experience.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16002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33.9% utilization · March low: 10.94%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8595360" cy="1298448"/>
          </a:xfrm>
          <a:prstGeom prst="rect">
            <a:avLst/>
          </a:prstGeom>
          <a:solidFill>
            <a:srgbClr val="2A1508"/>
          </a:solidFill>
          <a:ln w="6350">
            <a:solidFill>
              <a:srgbClr val="C058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75688"/>
            <a:ext cx="777240" cy="1298448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5973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0432" y="214884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pricing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50545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and event space rates do not adjust to real-time demand. High-demand periods pass without capturing premium revenue, leaving consistent money on the table.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70432" y="30175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gap: ₹252 (Mar) to ₹1,339 (May) — 5× spread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2A1508"/>
          </a:solidFill>
          <a:ln w="6350">
            <a:solidFill>
              <a:srgbClr val="C05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93008"/>
            <a:ext cx="777240" cy="1298448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87705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0432" y="356616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 gaps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392277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event scheduling causes clashes, duplicate bookings, and lost business. Without a systematic process, the hotel cannot reliably convert enquiries into confirmed revenue.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70432" y="44348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record-keeping · No demand forecasting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METADATA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73152" cy="10058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booking registers of Hotel SR Paark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into MS Excel for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01368"/>
            <a:ext cx="73152" cy="10058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92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January 2025 to 31 December 2025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daily records across a full calendar year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916936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16936"/>
            <a:ext cx="73152" cy="10058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083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customer identifiers recorded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4198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use only — NOC obtained from hotel management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713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collected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078992"/>
            <a:ext cx="4114800" cy="36576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199216"/>
            <a:ext cx="1920240" cy="720000"/>
          </a:xfrm>
          <a:prstGeom prst="rect">
            <a:avLst/>
          </a:prstGeom>
          <a:solidFill>
            <a:srgbClr val="F0E8DA"/>
          </a:solidFill>
          <a:ln w="6350">
            <a:solidFill>
              <a:srgbClr val="E8D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4705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4423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DD/MM/YYYY format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280" y="1188720"/>
            <a:ext cx="192024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12161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occupied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22008" y="143293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count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993392"/>
            <a:ext cx="1920240" cy="868680"/>
          </a:xfrm>
          <a:prstGeom prst="rect">
            <a:avLst/>
          </a:prstGeom>
          <a:solidFill>
            <a:srgbClr val="F0E8DA"/>
          </a:solidFill>
          <a:ln w="6350">
            <a:solidFill>
              <a:srgbClr val="E8D8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0824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4185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figure (₹)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12280" y="198882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20824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bed count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22008" y="2419473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service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926080"/>
            <a:ext cx="1920240" cy="868680"/>
          </a:xfrm>
          <a:prstGeom prst="rect">
            <a:avLst/>
          </a:prstGeom>
          <a:solidFill>
            <a:srgbClr val="F0E8DA"/>
          </a:solidFill>
          <a:ln w="6350">
            <a:solidFill>
              <a:srgbClr val="E8D8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0312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drinks count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338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service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0805" y="2927244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6922008" y="300321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type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22008" y="332193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stay / full-day stay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875876"/>
            <a:ext cx="4041648" cy="868680"/>
          </a:xfrm>
          <a:prstGeom prst="rect">
            <a:avLst/>
          </a:prstGeom>
          <a:solidFill>
            <a:srgbClr val="F0E8DA"/>
          </a:solidFill>
          <a:ln w="6350">
            <a:solidFill>
              <a:srgbClr val="E8D8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99047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429797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bookings, event stays, notable patterns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743200" cy="1371600"/>
          </a:xfrm>
          <a:prstGeom prst="rect">
            <a:avLst/>
          </a:prstGeom>
          <a:solidFill>
            <a:srgbClr val="38240D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2743200" cy="5486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rooms/day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occupancy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33.9% of 23-room capacity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685800"/>
            <a:ext cx="2743200" cy="1371600"/>
          </a:xfrm>
          <a:prstGeom prst="rect">
            <a:avLst/>
          </a:prstGeom>
          <a:solidFill>
            <a:srgbClr val="38240D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685800"/>
            <a:ext cx="2743200" cy="5486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7772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1399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rooms/day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occupancy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8379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7 rooms/day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685800"/>
            <a:ext cx="2743200" cy="1371600"/>
          </a:xfrm>
          <a:prstGeom prst="rect">
            <a:avLst/>
          </a:prstGeom>
          <a:solidFill>
            <a:srgbClr val="38240D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685800"/>
            <a:ext cx="2743200" cy="5486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7772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72200" y="1399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variability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72200" y="18379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range: 1–14 rooms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1945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22860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₹12,427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11480" y="29077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revenue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334670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₹11,200/day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21945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91840" y="22860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₹7,331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291840" y="29077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volatility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334670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income instability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5040" y="21945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72200" y="22860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₹2,300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172200" y="29077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–₹29,000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revenue range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334670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12.6× gap peak vs trough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794760"/>
            <a:ext cx="8595360" cy="804672"/>
          </a:xfrm>
          <a:prstGeom prst="rect">
            <a:avLst/>
          </a:prstGeom>
          <a:solidFill>
            <a:srgbClr val="C05800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587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365-day dataset. High revenue variance (std dev ₹7,331) and average occupancy of just 33.9% confirm the two core problems — chronic underutilization and unpredictable income.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824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CLEANING PROCESS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1600200" cy="3707892"/>
          </a:xfrm>
          <a:prstGeom prst="rect">
            <a:avLst/>
          </a:prstGeom>
          <a:solidFill>
            <a:srgbClr val="1A3A5A"/>
          </a:solidFill>
          <a:ln w="6350">
            <a:solidFill>
              <a:srgbClr val="C05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" y="749808"/>
            <a:ext cx="548640" cy="5486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" y="777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14173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10312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registers of Hotel SR Paark for Jan–Dec 2025. 365 records. Manager interview conducted. NOC obtained on official letterhead.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56232" y="2103120"/>
            <a:ext cx="137160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658368"/>
            <a:ext cx="1600200" cy="3707892"/>
          </a:xfrm>
          <a:prstGeom prst="rect">
            <a:avLst/>
          </a:prstGeom>
          <a:solidFill>
            <a:srgbClr val="0E5542"/>
          </a:solidFill>
          <a:ln w="6350">
            <a:solidFill>
              <a:srgbClr val="C058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9172" y="749808"/>
            <a:ext cx="548640" cy="5486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9172" y="777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84832" y="14173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210312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entries manually transcribed into MS Excel. Date fields standardized to DD/MM/YYYY. Revenue columns converted to numeric.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93592" y="2103120"/>
            <a:ext cx="137160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0752" y="658368"/>
            <a:ext cx="1600200" cy="3707892"/>
          </a:xfrm>
          <a:prstGeom prst="rect">
            <a:avLst/>
          </a:prstGeom>
          <a:solidFill>
            <a:srgbClr val="5A3010"/>
          </a:solidFill>
          <a:ln w="6350">
            <a:solidFill>
              <a:srgbClr val="C05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6532" y="749808"/>
            <a:ext cx="548640" cy="5486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6532" y="777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22192" y="14173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22192" y="210312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add-on values (Extra Beds, Cold Drinks) treated as zero. Personal customer identifiers removed. Remarks column flagged.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30952" y="2103120"/>
            <a:ext cx="137160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68112" y="658368"/>
            <a:ext cx="1600200" cy="3707892"/>
          </a:xfrm>
          <a:prstGeom prst="rect">
            <a:avLst/>
          </a:prstGeom>
          <a:solidFill>
            <a:srgbClr val="412A0A"/>
          </a:solidFill>
          <a:ln w="6350">
            <a:solidFill>
              <a:srgbClr val="C058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3892" y="749808"/>
            <a:ext cx="548640" cy="5486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93892" y="777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59552" y="14173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59552" y="210312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highlighted bulk/event bookings (e.g., 15-Jan ₹29,000). Retained — real peak demand, not data errors.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68312" y="2103120"/>
            <a:ext cx="137160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5472" y="658368"/>
            <a:ext cx="1600200" cy="3707892"/>
          </a:xfrm>
          <a:prstGeom prst="rect">
            <a:avLst/>
          </a:prstGeom>
          <a:solidFill>
            <a:srgbClr val="2A1060"/>
          </a:solidFill>
          <a:ln w="6350">
            <a:solidFill>
              <a:srgbClr val="C05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31252" y="749808"/>
            <a:ext cx="548640" cy="5486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1252" y="777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96912" y="14173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96912" y="2103120"/>
            <a:ext cx="1417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cross-checked vs room count for logical consistency. Duplicates eliminated. Final: 365 clean rows, 7 variables, zero missing.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4480560"/>
            <a:ext cx="8631936" cy="320040"/>
          </a:xfrm>
          <a:prstGeom prst="rect">
            <a:avLst/>
          </a:prstGeom>
          <a:solidFill>
            <a:srgbClr val="2A1508"/>
          </a:solidFill>
          <a:ln w="6350">
            <a:solidFill>
              <a:srgbClr val="C05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45073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Without standardized clean data, trend analysis produces unreliable results — and unreliable results mislead decisions. Every step here directly protects the integrity of the findings that follow.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REVENUE &amp; RevPAR TRENDS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56032" y="3017520"/>
            <a:ext cx="4315968" cy="27432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" y="30220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occupancy rate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01752" y="3364992"/>
            <a:ext cx="91440" cy="914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3337560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Q1 trough — March lowest at 10.94%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1752" y="3749040"/>
            <a:ext cx="91440" cy="914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1" y="3721608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in May at 58.20%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1752" y="4133088"/>
            <a:ext cx="91440" cy="914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4105656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recovery post-peak, settling 28–47%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645152" y="3017520"/>
            <a:ext cx="4370832" cy="27432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54496" y="30449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trend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59600" y="3423396"/>
            <a:ext cx="91440" cy="914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52220" y="3337560"/>
            <a:ext cx="41180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low ₹252, May peak ₹1,338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759600" y="3749040"/>
            <a:ext cx="91440" cy="914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903839" y="3721608"/>
            <a:ext cx="406642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Post-peak stabilises at ₹508–₹809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760780" y="4101821"/>
            <a:ext cx="91440" cy="91440"/>
          </a:xfrm>
          <a:prstGeom prst="ellipse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903839" y="4105656"/>
            <a:ext cx="406642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off-season RevPAR = missed pricing </a:t>
            </a:r>
            <a:r>
              <a:rPr lang="en-US" sz="1200" dirty="0" err="1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oppurtunity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07</a:t>
            </a:r>
            <a:endParaRPr lang="en-US" sz="800" dirty="0"/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BA6B3B40-04E9-281F-E3E3-832B0BCDF8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6823090"/>
              </p:ext>
            </p:extLst>
          </p:nvPr>
        </p:nvGraphicFramePr>
        <p:xfrm>
          <a:off x="82296" y="809244"/>
          <a:ext cx="4489704" cy="2221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FFC283ED-D45D-B9F5-58B8-A2387EBFE5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9943329"/>
              </p:ext>
            </p:extLst>
          </p:nvPr>
        </p:nvGraphicFramePr>
        <p:xfrm>
          <a:off x="4586256" y="793512"/>
          <a:ext cx="4320000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824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DRIVES REVENUE &amp; ADD-ON SERVICES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3520440"/>
            <a:ext cx="4206240" cy="256032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35387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1400" b="0" i="0" u="none" strike="noStrike" kern="1200" spc="0" baseline="0">
                <a:solidFill>
                  <a:prstClr val="white"/>
                </a:solidFill>
                <a:latin typeface="+mn-lt"/>
                <a:ea typeface="+mn-ea"/>
                <a:cs typeface="+mn-cs"/>
              </a:defRPr>
            </a:pPr>
            <a:r>
              <a:rPr lang="en-IN" sz="1000" dirty="0"/>
              <a:t>Contribution of Add-on Services</a:t>
            </a:r>
          </a:p>
        </p:txBody>
      </p:sp>
      <p:sp>
        <p:nvSpPr>
          <p:cNvPr id="8" name="Text 5"/>
          <p:cNvSpPr/>
          <p:nvPr/>
        </p:nvSpPr>
        <p:spPr>
          <a:xfrm>
            <a:off x="274320" y="380390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chemeClr val="bg1"/>
                </a:solidFill>
              </a:rPr>
              <a:t>Revenue scales linearly with rooms occupied. Add-ons contribute an extra 12–18% on high-demand days.</a:t>
            </a:r>
          </a:p>
        </p:txBody>
      </p:sp>
      <p:sp>
        <p:nvSpPr>
          <p:cNvPr id="10" name="Shape 6"/>
          <p:cNvSpPr/>
          <p:nvPr/>
        </p:nvSpPr>
        <p:spPr>
          <a:xfrm>
            <a:off x="4663440" y="3520440"/>
            <a:ext cx="4206240" cy="256032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36592" y="35387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1400" b="0" i="0" u="none" strike="noStrike" kern="1200" spc="0" baseline="0">
                <a:solidFill>
                  <a:prstClr val="white"/>
                </a:solidFill>
                <a:latin typeface="+mn-lt"/>
                <a:ea typeface="+mn-ea"/>
                <a:cs typeface="+mn-cs"/>
              </a:defRPr>
            </a:pPr>
            <a:r>
              <a:rPr lang="en-IN" sz="1000" b="1" dirty="0">
                <a:solidFill>
                  <a:schemeClr val="bg1"/>
                </a:solidFill>
              </a:rPr>
              <a:t>Relationship between Room Occupancy and Add-on Services 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4663440" y="380390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chemeClr val="bg1"/>
                </a:solidFill>
              </a:rPr>
              <a:t>Add-on usage tracks occupancy closely. Pearson r = 0.943, R² = 0.889 — occupancy explains 89% of add-on variation.</a:t>
            </a:r>
          </a:p>
        </p:txBody>
      </p:sp>
      <p:sp>
        <p:nvSpPr>
          <p:cNvPr id="13" name="Shape 9"/>
          <p:cNvSpPr/>
          <p:nvPr/>
        </p:nvSpPr>
        <p:spPr>
          <a:xfrm>
            <a:off x="274320" y="4315968"/>
            <a:ext cx="8595360" cy="566928"/>
          </a:xfrm>
          <a:prstGeom prst="rect">
            <a:avLst/>
          </a:prstGeom>
          <a:solidFill>
            <a:srgbClr val="2A1508"/>
          </a:solidFill>
          <a:ln w="10160">
            <a:solidFill>
              <a:srgbClr val="C058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8912" y="4370832"/>
            <a:ext cx="8275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Strong linear fit (R² = 0.89): every additional occupied room generates proportional revenue. Peak add-on demand aligns with April–May occupancy highs. Add-ons are volume-driven, not value-driven — no independent upselling program exists.</a:t>
            </a:r>
            <a:endParaRPr lang="en-US" sz="9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08</a:t>
            </a:r>
            <a:endParaRPr lang="en-US" sz="800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F03096B-85B2-6246-7531-084CBE7C69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1025818"/>
              </p:ext>
            </p:extLst>
          </p:nvPr>
        </p:nvGraphicFramePr>
        <p:xfrm>
          <a:off x="164592" y="667512"/>
          <a:ext cx="4320000" cy="2734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501D3916-B929-CD24-6314-663E12B8C2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7920181"/>
              </p:ext>
            </p:extLst>
          </p:nvPr>
        </p:nvGraphicFramePr>
        <p:xfrm>
          <a:off x="4606560" y="667512"/>
          <a:ext cx="4320000" cy="2734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743200" cy="1828800"/>
          </a:xfrm>
          <a:prstGeom prst="rect">
            <a:avLst/>
          </a:prstGeom>
          <a:solidFill>
            <a:srgbClr val="38240D"/>
          </a:solidFill>
          <a:ln w="8890">
            <a:solidFill>
              <a:srgbClr val="C05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85–89%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idle in Q1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56232"/>
            <a:ext cx="2468880" cy="36576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seasonal imbalance — Jan–Mar nearly empty every year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72968" y="685800"/>
            <a:ext cx="2743200" cy="1828800"/>
          </a:xfrm>
          <a:prstGeom prst="rect">
            <a:avLst/>
          </a:prstGeom>
          <a:solidFill>
            <a:srgbClr val="C05800"/>
          </a:solidFill>
          <a:ln w="8890">
            <a:solidFill>
              <a:srgbClr val="3824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77724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10128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revenue share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0128" y="1856232"/>
            <a:ext cx="2468880" cy="36576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drives a fifth of annual revenue — extreme concentration risk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71616" y="685800"/>
            <a:ext cx="2743200" cy="1828800"/>
          </a:xfrm>
          <a:prstGeom prst="rect">
            <a:avLst/>
          </a:prstGeom>
          <a:solidFill>
            <a:srgbClr val="38240D"/>
          </a:solidFill>
          <a:ln w="8890">
            <a:solidFill>
              <a:srgbClr val="C05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77724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08776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room utilization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08776" y="1856232"/>
            <a:ext cx="2468880" cy="36576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viable occupancy targets — majority of capacity wasted daily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651760"/>
            <a:ext cx="2743200" cy="1828800"/>
          </a:xfrm>
          <a:prstGeom prst="rect">
            <a:avLst/>
          </a:prstGeom>
          <a:solidFill>
            <a:srgbClr val="C05800"/>
          </a:solidFill>
          <a:ln w="8890">
            <a:solidFill>
              <a:srgbClr val="3824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432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114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upsells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822192"/>
            <a:ext cx="2468880" cy="36576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136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revenue is 100% occupancy-dependent — zero standalone upsell program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72968" y="2651760"/>
            <a:ext cx="2743200" cy="1828800"/>
          </a:xfrm>
          <a:prstGeom prst="rect">
            <a:avLst/>
          </a:prstGeom>
          <a:solidFill>
            <a:srgbClr val="38240D"/>
          </a:solidFill>
          <a:ln w="8890">
            <a:solidFill>
              <a:srgbClr val="C05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7432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310128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gap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10128" y="3822192"/>
            <a:ext cx="2468880" cy="36576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9136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₹252 vs May ₹1,339 — pricing is flat, demand swings wildly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71616" y="2651760"/>
            <a:ext cx="2743200" cy="1828800"/>
          </a:xfrm>
          <a:prstGeom prst="rect">
            <a:avLst/>
          </a:prstGeom>
          <a:solidFill>
            <a:srgbClr val="C05800"/>
          </a:solidFill>
          <a:ln w="8890">
            <a:solidFill>
              <a:srgbClr val="3824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27432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208776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08776" y="3822192"/>
            <a:ext cx="2468880" cy="36576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39136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stagnates post-August despite stable occupancy — static rates miss the window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·  Six actions to grow revenue and efficiency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27432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58368"/>
            <a:ext cx="2743200" cy="347472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132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Dynamic pricing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06984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rates 10–20% in peak months (Apr–Jul). Offer 10–15% weekday discounts when occupancy falls below 50%.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2139696"/>
            <a:ext cx="2560320" cy="23774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1396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gain: ₹8–9 lakh/year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63824" y="658368"/>
            <a:ext cx="27432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658368"/>
            <a:ext cx="2743200" cy="347472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7132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Add-on bundling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55264" y="106984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Room + Extra Bed and Room + Cold Drinks packages proactively at check-in during off-peak months.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55264" y="2139696"/>
            <a:ext cx="2560320" cy="23774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21396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+20% add-on revenue within 2 months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71616" y="658368"/>
            <a:ext cx="27432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658368"/>
            <a:ext cx="2743200" cy="347472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7132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Walk-in discounts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63056" y="106984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controlled discounts (max 15%) for walk-ins on low-demand days to convert enquiries into confirmed bookings.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2139696"/>
            <a:ext cx="2560320" cy="23774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21396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room idle rate on weak days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2596896"/>
            <a:ext cx="27432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596896"/>
            <a:ext cx="2743200" cy="347472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 Weekday banquet pricing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" y="300837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banquet rates on weekdays to attract corporate meetings and local events. Fill underutilized space.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078224"/>
            <a:ext cx="2560320" cy="23774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0782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+20% more weekday bookings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63824" y="2596896"/>
            <a:ext cx="27432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63824" y="2596896"/>
            <a:ext cx="2743200" cy="347472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55264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 Digital tracking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55264" y="300837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daily Excel records of occupancy and revenue for monthly performance reviews and ongoing forecasting.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55264" y="4078224"/>
            <a:ext cx="2560320" cy="23774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55264" y="40782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demand-based decisions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71616" y="2596896"/>
            <a:ext cx="27432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71616" y="2596896"/>
            <a:ext cx="2743200" cy="347472"/>
          </a:xfrm>
          <a:prstGeom prst="rect">
            <a:avLst/>
          </a:prstGeom>
          <a:solidFill>
            <a:srgbClr val="38240D"/>
          </a:solidFill>
          <a:ln w="12700">
            <a:solidFill>
              <a:srgbClr val="3824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 Guest loyalty program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63056" y="300837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simple repeat-guest discount (5% off or free cold drink) tracked by phone number at check-in.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63056" y="4078224"/>
            <a:ext cx="2560320" cy="237744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40782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repeat visits and stable occupancy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6032" y="4544568"/>
            <a:ext cx="8631936" cy="347472"/>
          </a:xfrm>
          <a:prstGeom prst="rect">
            <a:avLst/>
          </a:prstGeom>
          <a:solidFill>
            <a:srgbClr val="C05800"/>
          </a:solidFill>
          <a:ln w="10160">
            <a:solidFill>
              <a:srgbClr val="38240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572000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2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revenue gain: ₹8–9 lakhs/year (~18–22% improvement)  |  No increase in operational costs required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23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C679E23-0A36-E7E9-515F-041E022DBB7E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472E329-DFEF-11B4-DEC5-87016FCD8B9D}"/>
              </a:ext>
            </a:extLst>
          </p:cNvPr>
          <p:cNvSpPr/>
          <p:nvPr/>
        </p:nvSpPr>
        <p:spPr>
          <a:xfrm>
            <a:off x="411480" y="1000000"/>
            <a:ext cx="8320560" cy="12000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b="1" kern="0" spc="4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21A227D-57E4-5CDE-D6F8-9A3CB2F11CF9}"/>
              </a:ext>
            </a:extLst>
          </p:cNvPr>
          <p:cNvSpPr/>
          <p:nvPr/>
        </p:nvSpPr>
        <p:spPr>
          <a:xfrm>
            <a:off x="1828800" y="2377440"/>
            <a:ext cx="5486400" cy="45720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4E0B7A6-960D-EEB5-2CAA-885B60D809CF}"/>
              </a:ext>
            </a:extLst>
          </p:cNvPr>
          <p:cNvSpPr/>
          <p:nvPr/>
        </p:nvSpPr>
        <p:spPr>
          <a:xfrm>
            <a:off x="411480" y="2468880"/>
            <a:ext cx="832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i="1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BDM Viva Voce  ·  IIT Madras</a:t>
            </a:r>
            <a:endParaRPr lang="en-US" sz="1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FE1D872-7152-87DE-A05D-AA729594C72A}"/>
              </a:ext>
            </a:extLst>
          </p:cNvPr>
          <p:cNvSpPr/>
          <p:nvPr/>
        </p:nvSpPr>
        <p:spPr>
          <a:xfrm>
            <a:off x="2743200" y="3200400"/>
            <a:ext cx="3657600" cy="640080"/>
          </a:xfrm>
          <a:prstGeom prst="rect">
            <a:avLst/>
          </a:prstGeom>
          <a:solidFill>
            <a:srgbClr val="2A1508"/>
          </a:solidFill>
          <a:ln w="12700">
            <a:solidFill>
              <a:srgbClr val="C05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4490031-E8C0-3620-06BF-775D33E1CB25}"/>
              </a:ext>
            </a:extLst>
          </p:cNvPr>
          <p:cNvSpPr/>
          <p:nvPr/>
        </p:nvSpPr>
        <p:spPr>
          <a:xfrm>
            <a:off x="2880360" y="3218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Mannepalli Bala Praharsha  ·  24F1002193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9D16CBB-6DAB-8504-CB56-0DE501E8171D}"/>
              </a:ext>
            </a:extLst>
          </p:cNvPr>
          <p:cNvSpPr/>
          <p:nvPr/>
        </p:nvSpPr>
        <p:spPr>
          <a:xfrm>
            <a:off x="2880360" y="3492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FDF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– Business Data Management</a:t>
            </a:r>
            <a:endParaRPr lang="en-US" sz="1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01B4C2C-180C-8F35-A37E-C0F1F7F300FB}"/>
              </a:ext>
            </a:extLst>
          </p:cNvPr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|  Business Data Management  |  24F1002193							11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7014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1421</Words>
  <Application>Microsoft Office PowerPoint</Application>
  <PresentationFormat>On-screen Show (16:9)</PresentationFormat>
  <Paragraphs>217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SR Paark – BDM Viva Voce</dc:title>
  <dc:subject>PptxGenJS Presentation</dc:subject>
  <dc:creator>Mannepalli Bala Praharsha</dc:creator>
  <cp:lastModifiedBy>Bala Praharsha</cp:lastModifiedBy>
  <cp:revision>3</cp:revision>
  <dcterms:created xsi:type="dcterms:W3CDTF">2026-03-17T12:43:07Z</dcterms:created>
  <dcterms:modified xsi:type="dcterms:W3CDTF">2026-03-17T13:42:05Z</dcterms:modified>
</cp:coreProperties>
</file>